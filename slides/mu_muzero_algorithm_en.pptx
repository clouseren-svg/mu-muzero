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μ-MuZero: Model-Based RL for Autonomous Micro-Robotic Surgery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ACCFF"/>
                </a:solidFill>
              </a:defRPr>
            </a:pPr>
            <a:r>
              <a:t>A Safety-Constrained, Stochastic Variant of MuZero for Optical Micromanipulation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</a:defRPr>
            </a:pPr>
            <a:r>
              <a:t>Hamlyn Centre for Robotic Surgery | Imperial College London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Motivation &amp;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We Need μ-MuZero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Optical microrobots can perform cell-level surgery, but are still manually operated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Human reaction time (~250 ms) is too slow for micro-scale fluid dynamics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Standard RL algorithms fail at micro-scale due to three unique challenges: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   1. Brownian motion makes dynamics inherently stochastic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   2. Laser power has hard safety bounds — cannot explore by trial-and-error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   3. Action space is combinatorial: 6 traps × 7 primitives = 117,649 actions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MuZero works for board games, but not for micro-robots without adaptation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Core Insight: What Changes at Micro-Scale?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At macro-scale: inertia dominates, dynamics are deterministic, safety is soft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At micro-scale (low Reynolds number): viscosity dominates, Brownian motion is irreducible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Optical force fields are highly non-linear — no closed-form model exists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Key realization: agent must reason about UNCERTAINTY, not just expectation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μ-MuZero learns a stochastic latent dynamics model + plans with safety-constrained MCTS</a:t>
            </a:r>
          </a:p>
        </p:txBody>
      </p:sp>
      <p:pic>
        <p:nvPicPr>
          <p:cNvPr id="6" name="Picture 5" descr="pom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Core Algorithm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μ-MuZero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5EAA"/>
                </a:solidFill>
              </a:defRPr>
            </a:pPr>
            <a:r>
              <a:t>Neural Networks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Representation h_θ: belief → latent state (256-dim)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Dynamics g_θ: (state, action) → next state distribution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   Outputs μ and σ for Gaussian stochastic transitions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Prediction f_θ: state → policy logits + value estimate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All trained end-to-end via self-play in digital twin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097280"/>
            <a:ext cx="18288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5D04"/>
                </a:solidFill>
              </a:defRPr>
            </a:pPr>
            <a:r>
              <a:t>Safety-Constrained MCTS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Standard UCB augmented with uncertainty penalty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Hard pruning: any action violating P &gt; P_max is removed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Soft penalty: phototoxicity budget tracked per episode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Stochastic rollouts: sample K=8 trajectories from model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Value averaged across samples for risk-sensitive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Innovation 1: Stochastic Latent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Standard MuZero: deterministic transitions s' = g(s, a)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μ-MuZero: stochastic transitions s' ~ N(μ_g, σ_g)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Brownian displacement in 50 ms ≈ 100 nm — comparable to trap motion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During planning, sample K trajectories and average values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Result: policy robust to irreducible noise</a:t>
            </a:r>
          </a:p>
        </p:txBody>
      </p:sp>
      <p:pic>
        <p:nvPicPr>
          <p:cNvPr id="6" name="Picture 5" descr="stochastic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Innovation 2: Safety-Constrained Tree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In surgery, 'explore then recover' is unacceptable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Level 1 (Hard): MCTS prunes nodes where P &gt; P_max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Level 2 (Soft): cumulative phototoxicity budget penalised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Level 3 (Epistemic): high uncertainty reduces exploration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Constraint violation: 0.3% (μ-MuZero) vs 18% (unconstrained)</a:t>
            </a:r>
          </a:p>
        </p:txBody>
      </p:sp>
      <p:pic>
        <p:nvPicPr>
          <p:cNvPr id="6" name="Picture 5" descr="u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4652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Innovation 3: Factored Action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Naive space: 7^6 = 117,649 joint actions — intractable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μ-MuZero factorises: select WHICH trap, then HOW to move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Branching factor: 7^K → K + 6 (e.g., 117,649 → 12)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Biologically plausible: humans attend to one trap at a time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Enables real-time planning at 20 Hz on standard GPU</a:t>
            </a:r>
          </a:p>
        </p:txBody>
      </p:sp>
      <p:pic>
        <p:nvPicPr>
          <p:cNvPr id="6" name="Picture 5" descr="factor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Curriculum Learning for Multi-Robot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Stage 1 (0–50K): Single-robot transport in empty workspace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Stage 2 (50K–250K): Add static obstacles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Stage 3 (250K–1M): Two-robot cooperative pushing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Stage 4 (1M–2M): Three-robot micro-assembly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Without curriculum: fails to converge after 5M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Physics-Informed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Learned optical force model (NN trained on FDTD/T-matrix)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Hydrodynamic interactions via RPY tensor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Brownian dynamics integrated with Euler-Maruyama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Differentiable imaging simulator for sim-to-real transfer</a:t>
            </a:r>
          </a:p>
        </p:txBody>
      </p:sp>
      <p:pic>
        <p:nvPicPr>
          <p:cNvPr id="6" name="Picture 5" descr="langev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03520"/>
            <a:ext cx="7315200" cy="1548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Application Scenarios in Micro-Surgery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5EAA"/>
                </a:solidFill>
              </a:defRPr>
            </a:pPr>
            <a:r>
              <a:t>Single-Robot Tasks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Cell transport: move target to micro-channel entrance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Obstacle avoidance: navigate through cluttered tissue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Cell sorting: separate target cells from debris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Success rate: 91.3% (vs 67.2% scripted, 54.8% PPO)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097280"/>
            <a:ext cx="18288" cy="457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5D04"/>
                </a:solidFill>
              </a:defRPr>
            </a:pPr>
            <a:r>
              <a:t>Multi-Robot Tasks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Cooperative transport: 3 robots push untrappable cell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Micro-assembly: position component into slot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Coordinated injection: multi-point drug delivery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Success rate: 78.4% (scripted baseline: 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Experimental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Summary vs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Task 1 (Transport): μ-MuZero 91.3% | Scripted 67.2% | PPO 54.8% | Oracle 94.1%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Task 2 (Obstacle): μ-MuZero 89.0% | Scripted 58.0% | Manual 62.0%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Task 3 (Cooperative): μ-MuZero 78.4% | Scripted 0% | Manual 34.0%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Task 4 (Assembly): μ-MuZero 68.0% | Scripted 0% | Manual 8.0%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Phototoxicity budget: μ-MuZero 45% | Manual 68% | Scripted 82%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Emergent behaviour: discovers 'sling-shot' manoeuvre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Summary vs Baselines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Sim-to-Real Transfer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Step 1: Domain randomisation — randomise viscosity, temperature, noise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Step 2: System identification — calibrate on 100 real trajectories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Step 3: Online adaptation — MPC compensates residual model error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Expected transfer loss: &lt; 15% success rate drop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Physical validation: next critical milestone at Hamlyn Centre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Future &amp;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Directions &amp; Open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Real-world validation on physical optical tweezer hardware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Meta-learning for rapid adaptation to new microrobot geometries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Hierarchical planning: strategic (seconds) + tactical (ms) levels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Interpretability: explain WHY the agent chose a movement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Integration with fibre-optic endoscopes for in vivo deployment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Regulatory pathway: certifying learned policies for human surgery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Schrittwieser et al. (2020). Mastering Atari, Go, chess and shogi by planning with a learned model. Nature.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Ren et al. (2022). Machine learning-based real-time localization and automatic trapping of multiple microrobots. MARSS.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Zhang et al. (2020). Distributed force control for microrobot manipulation via planar multi-spot optical tweezer. AOM.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Grammatikopoulou et al. (2017). Depth estimation of optically transparent laser-driven microrobots. IROS.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Code: github.com/yunxiao-ren/mu-muzero (upon publication)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Contact: yunxiao.ren@imperial.ac.uk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